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27a43e1ce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27a43e1ce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7a43e1ce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27a43e1ce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27a43e1ce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27a43e1ce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7a43e1ce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7a43e1ce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7a43e1c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7a43e1c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7a43e1ce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7a43e1ce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7a43e1ce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7a43e1ce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27a43e1ce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27a43e1ce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27a43e1ce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27a43e1ce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7a43e1ce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7a43e1ce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27a43e1ce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27a43e1ce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27a43e1ce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27a43e1ce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27a43e1ce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27a43e1ce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STEGANOGRAFIJA ZASNOVANA NA LSB ALGORITMU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Katarina Lazarević 1995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Steganografija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>
                <a:solidFill>
                  <a:schemeClr val="dk2"/>
                </a:solidFill>
              </a:rPr>
              <a:t>Stegos - skriveno i graphia - pisanje =&gt; skriveno pisanje</a:t>
            </a:r>
            <a:endParaRPr baseline="30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r">
                <a:solidFill>
                  <a:schemeClr val="dk2"/>
                </a:solidFill>
              </a:rPr>
              <a:t>Steganografija je nauka skrivanja informacija unutar drugog digitalnog sadržaja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r">
                <a:solidFill>
                  <a:srgbClr val="000000"/>
                </a:solidFill>
              </a:rPr>
              <a:t>Glavni cilj je s</a:t>
            </a:r>
            <a:r>
              <a:rPr i="1" lang="sr">
                <a:solidFill>
                  <a:srgbClr val="000000"/>
                </a:solidFill>
              </a:rPr>
              <a:t>krivanje prisustva poruke, a ne njeno šifrovanje</a:t>
            </a:r>
            <a:endParaRPr i="1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-"/>
            </a:pPr>
            <a:r>
              <a:rPr lang="sr">
                <a:solidFill>
                  <a:srgbClr val="000000"/>
                </a:solidFill>
              </a:rPr>
              <a:t>Slike, zvuk, video, tekst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Steganografski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proces</a:t>
            </a:r>
            <a:endParaRPr/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778" y="0"/>
            <a:ext cx="24032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Algoritmi steganografije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sr">
                <a:solidFill>
                  <a:schemeClr val="dk2"/>
                </a:solidFill>
              </a:rPr>
              <a:t>Prostorni domen - LSB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eriod"/>
            </a:pPr>
            <a:r>
              <a:rPr lang="sr">
                <a:solidFill>
                  <a:schemeClr val="dk2"/>
                </a:solidFill>
              </a:rPr>
              <a:t>Jednostavni i brzi algoritmi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eriod"/>
            </a:pPr>
            <a:r>
              <a:rPr lang="sr">
                <a:solidFill>
                  <a:schemeClr val="dk2"/>
                </a:solidFill>
              </a:rPr>
              <a:t>Manje otporni na izmene</a:t>
            </a:r>
            <a:endParaRPr>
              <a:solidFill>
                <a:schemeClr val="dk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AutoNum type="arabicPeriod"/>
            </a:pPr>
            <a:r>
              <a:rPr lang="sr">
                <a:solidFill>
                  <a:schemeClr val="dk2"/>
                </a:solidFill>
              </a:rPr>
              <a:t>Frkvencijski domen - </a:t>
            </a:r>
            <a:endParaRPr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eriod"/>
            </a:pPr>
            <a:r>
              <a:rPr lang="sr">
                <a:solidFill>
                  <a:schemeClr val="dk2"/>
                </a:solidFill>
              </a:rPr>
              <a:t>koristi se transformacija slika </a:t>
            </a:r>
            <a:r>
              <a:rPr lang="sr" sz="1300">
                <a:solidFill>
                  <a:schemeClr val="dk2"/>
                </a:solidFill>
              </a:rPr>
              <a:t>DCT, DWT,...</a:t>
            </a:r>
            <a:endParaRPr sz="1300">
              <a:solidFill>
                <a:schemeClr val="dk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lphaLcPeriod"/>
            </a:pPr>
            <a:r>
              <a:rPr lang="sr">
                <a:solidFill>
                  <a:schemeClr val="dk2"/>
                </a:solidFill>
              </a:rPr>
              <a:t>Robusniji i komplikovaniji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LSB Algoritam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Least Significant Bit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r"/>
              <a:t>Menjanje najmanje značajnog bita piksela u svakom bajtu kako bi se sakrila informacija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r"/>
              <a:t>Laka implementacija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r"/>
              <a:t>Promene su vizuelno neprimetne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r"/>
              <a:t>Osetljiv na kompresiju i modifikacije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Implementacija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sr"/>
              <a:t>Python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r"/>
              <a:t>Pillow za rad sa slikama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r"/>
              <a:t>NumPy za manipulaciju podacima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Proces enkodiranja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Učitavanje slike i konverzija u odgovarajući format (RGB)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Provera kapaciteta slike i veličinu poruke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Konvertovanje slike u NumPy niz zbog brzine i jednostavnosti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Menjanje poslednjeg značajnog bita kroz dve bitske operacije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sr" sz="1200"/>
              <a:t>AND operacija sa </a:t>
            </a:r>
            <a:r>
              <a:rPr lang="sr" sz="1300">
                <a:solidFill>
                  <a:srgbClr val="188038"/>
                </a:solidFill>
              </a:rPr>
              <a:t>11111110 </a:t>
            </a:r>
            <a:r>
              <a:rPr lang="sr" sz="1300"/>
              <a:t>(maskiranje) - Postavlja LSB na 0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lphaLcPeriod"/>
            </a:pPr>
            <a:r>
              <a:rPr lang="sr" sz="1200">
                <a:latin typeface="Roboto Mono"/>
                <a:ea typeface="Roboto Mono"/>
                <a:cs typeface="Roboto Mono"/>
                <a:sym typeface="Roboto Mono"/>
              </a:rPr>
              <a:t>OR sa novim bitom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 Mono"/>
              <a:buAutoNum type="arabicPeriod"/>
            </a:pPr>
            <a:r>
              <a:rPr lang="sr" sz="1200">
                <a:latin typeface="Roboto Mono"/>
                <a:ea typeface="Roboto Mono"/>
                <a:cs typeface="Roboto Mono"/>
                <a:sym typeface="Roboto Mono"/>
              </a:rPr>
              <a:t>Čuvanje izmenjene slike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650" y="91550"/>
            <a:ext cx="5495899" cy="496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Proces dekodiranja poruke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Inverzni proces koji ekstraktuje skrivenu poruku iz slike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Učitava sliku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Ekstraktuje LSB iz  svakog piksela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Konvertuje bitove u tekst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sr"/>
              <a:t>Traži oznaku za kraj poruke  i vraća poruku pre nje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614525"/>
            <a:ext cx="76887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Proces poređenja slika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1751375"/>
            <a:ext cx="6276000" cy="18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sr" sz="1107"/>
              <a:t>Poredi originalnu i kodiranu sliku da pokaže razliku</a:t>
            </a:r>
            <a:endParaRPr sz="11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sr" sz="1107"/>
              <a:t>Jedan od osnovnih zadataka steganografije je da proceni koliko se kvalitet slike promenio u odnosu na original</a:t>
            </a:r>
            <a:endParaRPr sz="11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sr" sz="1107"/>
              <a:t>Cilj da kodirana slika vizuelno bude identična originalnoj</a:t>
            </a:r>
            <a:endParaRPr sz="1107"/>
          </a:p>
          <a:p>
            <a:pPr indent="-298926" lvl="0" marL="457200" rtl="0" algn="l">
              <a:spcBef>
                <a:spcPts val="1200"/>
              </a:spcBef>
              <a:spcAft>
                <a:spcPts val="0"/>
              </a:spcAft>
              <a:buSzPts val="1108"/>
              <a:buAutoNum type="arabicPeriod"/>
            </a:pPr>
            <a:r>
              <a:rPr lang="sr" sz="1107"/>
              <a:t>MSE</a:t>
            </a:r>
            <a:endParaRPr sz="1107"/>
          </a:p>
          <a:p>
            <a:pPr indent="-298926" lvl="0" marL="457200" rtl="0" algn="l">
              <a:spcBef>
                <a:spcPts val="0"/>
              </a:spcBef>
              <a:spcAft>
                <a:spcPts val="0"/>
              </a:spcAft>
              <a:buSzPts val="1108"/>
              <a:buAutoNum type="arabicPeriod"/>
            </a:pPr>
            <a:r>
              <a:rPr lang="sr" sz="1107"/>
              <a:t>PSNR</a:t>
            </a:r>
            <a:endParaRPr sz="11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sr" sz="1107"/>
              <a:t>Što manji MSE to veći PSNR</a:t>
            </a:r>
            <a:endParaRPr sz="1107"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975" y="3327400"/>
            <a:ext cx="573405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5" y="121650"/>
            <a:ext cx="8435725" cy="17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006150"/>
            <a:ext cx="3968817" cy="29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8217" y="2006150"/>
            <a:ext cx="3979934" cy="298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433"/>
            <a:ext cx="4599850" cy="30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675" y="77433"/>
            <a:ext cx="4086950" cy="308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02659"/>
            <a:ext cx="5167949" cy="1677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675"/>
            <a:ext cx="8839204" cy="1834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74649"/>
            <a:ext cx="4419599" cy="2157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8776" y="2124482"/>
            <a:ext cx="3843624" cy="288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r"/>
              <a:t>HVALA NA PAŽNJI!!!</a:t>
            </a:r>
            <a:endParaRPr/>
          </a:p>
        </p:txBody>
      </p:sp>
      <p:sp>
        <p:nvSpPr>
          <p:cNvPr id="169" name="Google Shape;169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